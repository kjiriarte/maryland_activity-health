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60" r:id="rId3"/>
    <p:sldId id="267" r:id="rId4"/>
    <p:sldId id="257" r:id="rId5"/>
    <p:sldId id="258" r:id="rId6"/>
    <p:sldId id="259" r:id="rId7"/>
    <p:sldId id="266" r:id="rId8"/>
    <p:sldId id="261" r:id="rId9"/>
    <p:sldId id="264" r:id="rId10"/>
    <p:sldId id="262" r:id="rId11"/>
    <p:sldId id="263"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p:restoredTop sz="94673"/>
  </p:normalViewPr>
  <p:slideViewPr>
    <p:cSldViewPr snapToGrid="0">
      <p:cViewPr varScale="1">
        <p:scale>
          <a:sx n="124" d="100"/>
          <a:sy n="124" d="100"/>
        </p:scale>
        <p:origin x="2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76E50-93A0-EA47-B89D-A01A46FC9409}" type="datetimeFigureOut">
              <a:rPr lang="en-US" smtClean="0"/>
              <a:t>4/21/25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A7FA3-87EE-194E-8ED4-9EC6CB673B8B}" type="slidenum">
              <a:rPr lang="en-US" smtClean="0"/>
              <a:t>‹#›</a:t>
            </a:fld>
            <a:endParaRPr lang="en-US"/>
          </a:p>
        </p:txBody>
      </p:sp>
    </p:spTree>
    <p:extLst>
      <p:ext uri="{BB962C8B-B14F-4D97-AF65-F5344CB8AC3E}">
        <p14:creationId xmlns:p14="http://schemas.microsoft.com/office/powerpoint/2010/main" val="382311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3A7FA3-87EE-194E-8ED4-9EC6CB673B8B}" type="slidenum">
              <a:rPr lang="en-US" smtClean="0"/>
              <a:t>2</a:t>
            </a:fld>
            <a:endParaRPr lang="en-US"/>
          </a:p>
        </p:txBody>
      </p:sp>
    </p:spTree>
    <p:extLst>
      <p:ext uri="{BB962C8B-B14F-4D97-AF65-F5344CB8AC3E}">
        <p14:creationId xmlns:p14="http://schemas.microsoft.com/office/powerpoint/2010/main" val="186439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3A7FA3-87EE-194E-8ED4-9EC6CB673B8B}" type="slidenum">
              <a:rPr lang="en-US" smtClean="0"/>
              <a:t>8</a:t>
            </a:fld>
            <a:endParaRPr lang="en-US"/>
          </a:p>
        </p:txBody>
      </p:sp>
    </p:spTree>
    <p:extLst>
      <p:ext uri="{BB962C8B-B14F-4D97-AF65-F5344CB8AC3E}">
        <p14:creationId xmlns:p14="http://schemas.microsoft.com/office/powerpoint/2010/main" val="3591299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4/21/25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4/21/25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4/21/25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4/21/25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4/21/25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4/21/25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4/21/25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4/21/25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4/21/25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4/21/25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4/21/25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4/21/25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0BE3D13-5BE5-4B05-AFCF-2A2E059D2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AC85C80-0175-4214-A13D-03C224658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24" y="487443"/>
            <a:ext cx="5841548" cy="5841548"/>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pic>
        <p:nvPicPr>
          <p:cNvPr id="12" name="Picture 11">
            <a:extLst>
              <a:ext uri="{FF2B5EF4-FFF2-40B4-BE49-F238E27FC236}">
                <a16:creationId xmlns:a16="http://schemas.microsoft.com/office/drawing/2014/main" id="{15ADB788-8569-409E-862D-665AD53C99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2133" y="0"/>
            <a:ext cx="12189867" cy="6858000"/>
          </a:xfrm>
          <a:prstGeom prst="rect">
            <a:avLst/>
          </a:prstGeom>
        </p:spPr>
      </p:pic>
      <p:sp>
        <p:nvSpPr>
          <p:cNvPr id="2" name="Title 1">
            <a:extLst>
              <a:ext uri="{FF2B5EF4-FFF2-40B4-BE49-F238E27FC236}">
                <a16:creationId xmlns:a16="http://schemas.microsoft.com/office/drawing/2014/main" id="{2CA93B1F-82FE-5886-A4F4-93D7039451B6}"/>
              </a:ext>
            </a:extLst>
          </p:cNvPr>
          <p:cNvSpPr>
            <a:spLocks noGrp="1"/>
          </p:cNvSpPr>
          <p:nvPr>
            <p:ph type="ctrTitle"/>
          </p:nvPr>
        </p:nvSpPr>
        <p:spPr>
          <a:xfrm>
            <a:off x="3039048" y="2568817"/>
            <a:ext cx="7155598" cy="3133968"/>
          </a:xfrm>
        </p:spPr>
        <p:txBody>
          <a:bodyPr>
            <a:normAutofit/>
          </a:bodyPr>
          <a:lstStyle/>
          <a:p>
            <a:pPr algn="l"/>
            <a:r>
              <a:rPr lang="en-US" sz="4100" b="1" i="0" dirty="0">
                <a:solidFill>
                  <a:srgbClr val="1F2D29"/>
                </a:solidFill>
                <a:effectLst/>
              </a:rPr>
              <a:t>What factors are most associated with physical activity levels across citizens in Maryland Counties?</a:t>
            </a:r>
            <a:endParaRPr lang="en-US" sz="4100" dirty="0">
              <a:solidFill>
                <a:srgbClr val="1F2D29"/>
              </a:solidFill>
            </a:endParaRPr>
          </a:p>
        </p:txBody>
      </p:sp>
      <p:sp>
        <p:nvSpPr>
          <p:cNvPr id="3" name="Subtitle 2">
            <a:extLst>
              <a:ext uri="{FF2B5EF4-FFF2-40B4-BE49-F238E27FC236}">
                <a16:creationId xmlns:a16="http://schemas.microsoft.com/office/drawing/2014/main" id="{A64A7267-EF23-08C2-53CD-17E61BBE211A}"/>
              </a:ext>
            </a:extLst>
          </p:cNvPr>
          <p:cNvSpPr>
            <a:spLocks noGrp="1"/>
          </p:cNvSpPr>
          <p:nvPr>
            <p:ph type="subTitle" idx="1"/>
          </p:nvPr>
        </p:nvSpPr>
        <p:spPr>
          <a:xfrm>
            <a:off x="3039048" y="1325691"/>
            <a:ext cx="4355178" cy="1138426"/>
          </a:xfrm>
        </p:spPr>
        <p:txBody>
          <a:bodyPr>
            <a:normAutofit/>
          </a:bodyPr>
          <a:lstStyle/>
          <a:p>
            <a:pPr algn="l"/>
            <a:r>
              <a:rPr lang="en-US" sz="1600" b="1" dirty="0">
                <a:solidFill>
                  <a:srgbClr val="1F2D29"/>
                </a:solidFill>
              </a:rPr>
              <a:t>Data Science Capstone</a:t>
            </a:r>
          </a:p>
          <a:p>
            <a:pPr algn="l"/>
            <a:r>
              <a:rPr lang="en-US" sz="1600" b="1" dirty="0">
                <a:solidFill>
                  <a:srgbClr val="1F2D29"/>
                </a:solidFill>
              </a:rPr>
              <a:t>Research Question:</a:t>
            </a:r>
            <a:endParaRPr lang="en-US" sz="1600" dirty="0">
              <a:solidFill>
                <a:srgbClr val="1F2D29"/>
              </a:solidFill>
            </a:endParaRPr>
          </a:p>
        </p:txBody>
      </p:sp>
      <p:sp>
        <p:nvSpPr>
          <p:cNvPr id="14" name="Rectangle 13">
            <a:extLst>
              <a:ext uri="{FF2B5EF4-FFF2-40B4-BE49-F238E27FC236}">
                <a16:creationId xmlns:a16="http://schemas.microsoft.com/office/drawing/2014/main" id="{76562092-3AA7-4EF0-9007-C44F879A1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ight Triangle 15">
            <a:extLst>
              <a:ext uri="{FF2B5EF4-FFF2-40B4-BE49-F238E27FC236}">
                <a16:creationId xmlns:a16="http://schemas.microsoft.com/office/drawing/2014/main" id="{2663C086-1480-4E81-BD6F-3E43A4C38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585313" y="2747897"/>
            <a:ext cx="353147" cy="353147"/>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129102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BFB29-5F4A-4BB3-BDA7-16FAFAF387C3}"/>
              </a:ext>
            </a:extLst>
          </p:cNvPr>
          <p:cNvSpPr>
            <a:spLocks noGrp="1"/>
          </p:cNvSpPr>
          <p:nvPr>
            <p:ph type="title"/>
          </p:nvPr>
        </p:nvSpPr>
        <p:spPr>
          <a:xfrm>
            <a:off x="2759783" y="188703"/>
            <a:ext cx="6993817" cy="1077229"/>
          </a:xfrm>
        </p:spPr>
        <p:txBody>
          <a:bodyPr>
            <a:noAutofit/>
          </a:bodyPr>
          <a:lstStyle/>
          <a:p>
            <a:pPr algn="ctr"/>
            <a:r>
              <a:rPr lang="en-US" sz="4800" dirty="0"/>
              <a:t>Poster Presentation Visual</a:t>
            </a:r>
          </a:p>
        </p:txBody>
      </p:sp>
      <p:pic>
        <p:nvPicPr>
          <p:cNvPr id="8" name="Content Placeholder 7" descr="A poster with a map and text&#10;&#10;AI-generated content may be incorrect.">
            <a:extLst>
              <a:ext uri="{FF2B5EF4-FFF2-40B4-BE49-F238E27FC236}">
                <a16:creationId xmlns:a16="http://schemas.microsoft.com/office/drawing/2014/main" id="{878D18E2-FB20-4DE1-BF40-F7DAD1FF622A}"/>
              </a:ext>
            </a:extLst>
          </p:cNvPr>
          <p:cNvPicPr>
            <a:picLocks noGrp="1" noChangeAspect="1"/>
          </p:cNvPicPr>
          <p:nvPr>
            <p:ph idx="1"/>
          </p:nvPr>
        </p:nvPicPr>
        <p:blipFill>
          <a:blip r:embed="rId3"/>
          <a:stretch>
            <a:fillRect/>
          </a:stretch>
        </p:blipFill>
        <p:spPr>
          <a:xfrm>
            <a:off x="3044102" y="1429705"/>
            <a:ext cx="6103795" cy="4572000"/>
          </a:xfrm>
        </p:spPr>
      </p:pic>
    </p:spTree>
    <p:extLst>
      <p:ext uri="{BB962C8B-B14F-4D97-AF65-F5344CB8AC3E}">
        <p14:creationId xmlns:p14="http://schemas.microsoft.com/office/powerpoint/2010/main" val="2975780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ADBA-5DB1-C6AC-68DC-53E32E1E992C}"/>
              </a:ext>
            </a:extLst>
          </p:cNvPr>
          <p:cNvSpPr>
            <a:spLocks noGrp="1"/>
          </p:cNvSpPr>
          <p:nvPr>
            <p:ph type="title"/>
          </p:nvPr>
        </p:nvSpPr>
        <p:spPr>
          <a:xfrm>
            <a:off x="1219145" y="808056"/>
            <a:ext cx="9753710" cy="1077229"/>
          </a:xfrm>
        </p:spPr>
        <p:txBody>
          <a:bodyPr>
            <a:noAutofit/>
          </a:bodyPr>
          <a:lstStyle/>
          <a:p>
            <a:r>
              <a:rPr lang="en-US" sz="6000" dirty="0"/>
              <a:t>Why is this worth researching? </a:t>
            </a:r>
          </a:p>
        </p:txBody>
      </p:sp>
      <p:sp>
        <p:nvSpPr>
          <p:cNvPr id="3" name="Content Placeholder 2">
            <a:extLst>
              <a:ext uri="{FF2B5EF4-FFF2-40B4-BE49-F238E27FC236}">
                <a16:creationId xmlns:a16="http://schemas.microsoft.com/office/drawing/2014/main" id="{373A281D-591A-AEC6-373C-E02C9A9D81BF}"/>
              </a:ext>
            </a:extLst>
          </p:cNvPr>
          <p:cNvSpPr>
            <a:spLocks noGrp="1"/>
          </p:cNvSpPr>
          <p:nvPr>
            <p:ph idx="1"/>
          </p:nvPr>
        </p:nvSpPr>
        <p:spPr/>
        <p:txBody>
          <a:bodyPr/>
          <a:lstStyle/>
          <a:p>
            <a:pPr>
              <a:buFont typeface="Courier New" panose="02070309020205020404" pitchFamily="49" charset="0"/>
              <a:buChar char="o"/>
            </a:pPr>
            <a:r>
              <a:rPr lang="en-US" dirty="0"/>
              <a:t>The epidemic of obesity has been a rising concern in recent years. </a:t>
            </a:r>
          </a:p>
          <a:p>
            <a:pPr>
              <a:buFont typeface="Courier New" panose="02070309020205020404" pitchFamily="49" charset="0"/>
              <a:buChar char="o"/>
            </a:pPr>
            <a:r>
              <a:rPr lang="en-US" dirty="0"/>
              <a:t>As of 2023 EVERY U.S. state had an overweight and obesity rate of over 20%, and in recent years we are continuing to see these rates rise</a:t>
            </a:r>
          </a:p>
          <a:p>
            <a:pPr>
              <a:buFont typeface="Courier New" panose="02070309020205020404" pitchFamily="49" charset="0"/>
              <a:buChar char="o"/>
            </a:pPr>
            <a:r>
              <a:rPr lang="en-US" dirty="0"/>
              <a:t>It has been scientifically proven that increasing physical activity (along with diet and nutrition)  is the main way to combat this disease.</a:t>
            </a:r>
          </a:p>
        </p:txBody>
      </p:sp>
    </p:spTree>
    <p:extLst>
      <p:ext uri="{BB962C8B-B14F-4D97-AF65-F5344CB8AC3E}">
        <p14:creationId xmlns:p14="http://schemas.microsoft.com/office/powerpoint/2010/main" val="451640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76" name="Rectangle 1075">
            <a:extLst>
              <a:ext uri="{FF2B5EF4-FFF2-40B4-BE49-F238E27FC236}">
                <a16:creationId xmlns:a16="http://schemas.microsoft.com/office/drawing/2014/main" id="{725BC238-C762-4D13-A195-D96782130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78" name="Picture 1077">
            <a:extLst>
              <a:ext uri="{FF2B5EF4-FFF2-40B4-BE49-F238E27FC236}">
                <a16:creationId xmlns:a16="http://schemas.microsoft.com/office/drawing/2014/main" id="{E46C2F34-1655-46BB-AA7C-FE1E7C94DE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80" name="Picture 1079">
            <a:extLst>
              <a:ext uri="{FF2B5EF4-FFF2-40B4-BE49-F238E27FC236}">
                <a16:creationId xmlns:a16="http://schemas.microsoft.com/office/drawing/2014/main" id="{9E212255-06CB-48A7-8DDC-16BB691C27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082" name="Rectangle 1081">
            <a:extLst>
              <a:ext uri="{FF2B5EF4-FFF2-40B4-BE49-F238E27FC236}">
                <a16:creationId xmlns:a16="http://schemas.microsoft.com/office/drawing/2014/main" id="{380DDC1E-06A0-46BA-AE64-DBDD05947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339C1BC9-83BE-489D-9B3E-B164525B1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F00FBAF5-0C55-4EC9-9950-7797B8DF7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761" y="0"/>
            <a:ext cx="1038910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B86C5-E21C-B394-1A66-265DD7CAE40E}"/>
              </a:ext>
            </a:extLst>
          </p:cNvPr>
          <p:cNvSpPr>
            <a:spLocks noGrp="1"/>
          </p:cNvSpPr>
          <p:nvPr>
            <p:ph type="title"/>
          </p:nvPr>
        </p:nvSpPr>
        <p:spPr>
          <a:xfrm>
            <a:off x="1926216" y="678916"/>
            <a:ext cx="4671116" cy="1077229"/>
          </a:xfrm>
        </p:spPr>
        <p:txBody>
          <a:bodyPr>
            <a:noAutofit/>
          </a:bodyPr>
          <a:lstStyle/>
          <a:p>
            <a:pPr algn="l"/>
            <a:r>
              <a:rPr lang="en-US" sz="4800" dirty="0"/>
              <a:t>Data Collection Process</a:t>
            </a:r>
          </a:p>
        </p:txBody>
      </p:sp>
      <p:sp>
        <p:nvSpPr>
          <p:cNvPr id="1070" name="Content Placeholder 1046">
            <a:extLst>
              <a:ext uri="{FF2B5EF4-FFF2-40B4-BE49-F238E27FC236}">
                <a16:creationId xmlns:a16="http://schemas.microsoft.com/office/drawing/2014/main" id="{23C7B08A-47D6-3DAB-9D0D-00A8A9A7F8EF}"/>
              </a:ext>
            </a:extLst>
          </p:cNvPr>
          <p:cNvSpPr>
            <a:spLocks noGrp="1"/>
          </p:cNvSpPr>
          <p:nvPr>
            <p:ph idx="1"/>
          </p:nvPr>
        </p:nvSpPr>
        <p:spPr>
          <a:xfrm>
            <a:off x="1969803" y="2052116"/>
            <a:ext cx="3784705" cy="3997828"/>
          </a:xfrm>
        </p:spPr>
        <p:txBody>
          <a:bodyPr>
            <a:normAutofit fontScale="92500" lnSpcReduction="10000"/>
          </a:bodyPr>
          <a:lstStyle/>
          <a:p>
            <a:pPr>
              <a:buFont typeface="Courier New" panose="02070309020205020404" pitchFamily="49" charset="0"/>
              <a:buChar char="o"/>
            </a:pPr>
            <a:r>
              <a:rPr lang="en-US" sz="1800" dirty="0"/>
              <a:t>Original Data retrieved from </a:t>
            </a:r>
            <a:r>
              <a:rPr lang="en-US" sz="1800" dirty="0" err="1"/>
              <a:t>Maryland.gov</a:t>
            </a:r>
            <a:endParaRPr lang="en-US" sz="1800" dirty="0"/>
          </a:p>
          <a:p>
            <a:pPr>
              <a:buFont typeface="Courier New" panose="02070309020205020404" pitchFamily="49" charset="0"/>
              <a:buChar char="o"/>
            </a:pPr>
            <a:r>
              <a:rPr lang="en-US" sz="1800" dirty="0"/>
              <a:t>Included variables like Income, Physical Activity %, Health Insurance coverage, etc.</a:t>
            </a:r>
          </a:p>
          <a:p>
            <a:pPr>
              <a:buFont typeface="Courier New" panose="02070309020205020404" pitchFamily="49" charset="0"/>
              <a:buChar char="o"/>
            </a:pPr>
            <a:r>
              <a:rPr lang="en-US" sz="1800" dirty="0"/>
              <a:t>Merged with park data that I scraped from various Maryland counties official websites</a:t>
            </a:r>
          </a:p>
          <a:p>
            <a:pPr>
              <a:buFont typeface="Courier New" panose="02070309020205020404" pitchFamily="49" charset="0"/>
              <a:buChar char="o"/>
            </a:pPr>
            <a:r>
              <a:rPr lang="en-US" sz="1800" dirty="0"/>
              <a:t>Addition of more data later in the process, Trails – including length, elevation and other factors</a:t>
            </a:r>
          </a:p>
        </p:txBody>
      </p:sp>
      <p:pic>
        <p:nvPicPr>
          <p:cNvPr id="1026" name="Picture 2" descr="About | AllTrails">
            <a:extLst>
              <a:ext uri="{FF2B5EF4-FFF2-40B4-BE49-F238E27FC236}">
                <a16:creationId xmlns:a16="http://schemas.microsoft.com/office/drawing/2014/main" id="{818A93BF-1E93-1197-A456-E4B958C28B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853" r="7705" b="-2"/>
          <a:stretch/>
        </p:blipFill>
        <p:spPr bwMode="auto">
          <a:xfrm>
            <a:off x="6408981" y="646088"/>
            <a:ext cx="4330179" cy="2705071"/>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pic>
        <p:nvPicPr>
          <p:cNvPr id="1028" name="Picture 4" descr="State Of Maryland Logo &amp; Brand Assets (SVG, PNG and vector) - Brandfetch">
            <a:extLst>
              <a:ext uri="{FF2B5EF4-FFF2-40B4-BE49-F238E27FC236}">
                <a16:creationId xmlns:a16="http://schemas.microsoft.com/office/drawing/2014/main" id="{032332AA-372D-DD46-38C1-CDDD674A11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20673" r="1" b="16858"/>
          <a:stretch/>
        </p:blipFill>
        <p:spPr bwMode="auto">
          <a:xfrm>
            <a:off x="6416206" y="3506402"/>
            <a:ext cx="4330179" cy="2705071"/>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
        <p:nvSpPr>
          <p:cNvPr id="1088" name="Rectangle 1087">
            <a:extLst>
              <a:ext uri="{FF2B5EF4-FFF2-40B4-BE49-F238E27FC236}">
                <a16:creationId xmlns:a16="http://schemas.microsoft.com/office/drawing/2014/main" id="{12BC0108-11C3-4CBB-B5D0-7945DB64D0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8402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40C8693A-B687-4F5E-B86B-B4F11D52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D51084F9-D042-49BE-9E1A-43E583B98FC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49" name="Picture 48">
            <a:extLst>
              <a:ext uri="{FF2B5EF4-FFF2-40B4-BE49-F238E27FC236}">
                <a16:creationId xmlns:a16="http://schemas.microsoft.com/office/drawing/2014/main" id="{EE65CA45-264D-4FD3-9249-3CB04EC97E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51" name="Rectangle 50">
            <a:extLst>
              <a:ext uri="{FF2B5EF4-FFF2-40B4-BE49-F238E27FC236}">
                <a16:creationId xmlns:a16="http://schemas.microsoft.com/office/drawing/2014/main" id="{E7B58214-716F-43B8-8272-85CE2B9AB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2A5C070E-7DB1-4147-B6A8-D14B9C40E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31070C9-36CD-4B65-8159-324995821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BA1E00-16B9-AC01-F513-1D2945DDFF8D}"/>
              </a:ext>
            </a:extLst>
          </p:cNvPr>
          <p:cNvSpPr>
            <a:spLocks noGrp="1"/>
          </p:cNvSpPr>
          <p:nvPr>
            <p:ph type="title"/>
          </p:nvPr>
        </p:nvSpPr>
        <p:spPr>
          <a:xfrm>
            <a:off x="1969803" y="808056"/>
            <a:ext cx="8608037" cy="1077229"/>
          </a:xfrm>
        </p:spPr>
        <p:txBody>
          <a:bodyPr>
            <a:normAutofit/>
          </a:bodyPr>
          <a:lstStyle/>
          <a:p>
            <a:pPr algn="l"/>
            <a:r>
              <a:rPr lang="en-US"/>
              <a:t>Determining Variables – Feature Importance + Engineering</a:t>
            </a:r>
          </a:p>
        </p:txBody>
      </p:sp>
      <p:sp>
        <p:nvSpPr>
          <p:cNvPr id="42" name="Content Placeholder 41">
            <a:extLst>
              <a:ext uri="{FF2B5EF4-FFF2-40B4-BE49-F238E27FC236}">
                <a16:creationId xmlns:a16="http://schemas.microsoft.com/office/drawing/2014/main" id="{AD3B4FED-54BF-3BDF-28A2-13CBBF5F2CB0}"/>
              </a:ext>
            </a:extLst>
          </p:cNvPr>
          <p:cNvSpPr>
            <a:spLocks noGrp="1"/>
          </p:cNvSpPr>
          <p:nvPr>
            <p:ph idx="1"/>
          </p:nvPr>
        </p:nvSpPr>
        <p:spPr>
          <a:xfrm>
            <a:off x="1975805" y="2052116"/>
            <a:ext cx="2908167" cy="3997828"/>
          </a:xfrm>
        </p:spPr>
        <p:txBody>
          <a:bodyPr>
            <a:normAutofit/>
          </a:bodyPr>
          <a:lstStyle/>
          <a:p>
            <a:pPr>
              <a:buFont typeface="Courier New" panose="02070309020205020404" pitchFamily="49" charset="0"/>
              <a:buChar char="o"/>
            </a:pPr>
            <a:r>
              <a:rPr lang="en-US" sz="1600" dirty="0"/>
              <a:t>Plotted a correlation matrix to have a general idea of which variables were most associated with physical activity level</a:t>
            </a:r>
          </a:p>
          <a:p>
            <a:pPr>
              <a:buFont typeface="Courier New" panose="02070309020205020404" pitchFamily="49" charset="0"/>
              <a:buChar char="o"/>
            </a:pPr>
            <a:r>
              <a:rPr lang="en-US" sz="1600" dirty="0"/>
              <a:t>Most important factors are later confirmed by assessing coefficients in the regression model</a:t>
            </a:r>
          </a:p>
        </p:txBody>
      </p:sp>
      <p:pic>
        <p:nvPicPr>
          <p:cNvPr id="5" name="Content Placeholder 4" descr="A green and white graph&#10;&#10;AI-generated content may be incorrect.">
            <a:extLst>
              <a:ext uri="{FF2B5EF4-FFF2-40B4-BE49-F238E27FC236}">
                <a16:creationId xmlns:a16="http://schemas.microsoft.com/office/drawing/2014/main" id="{1334DAA6-5889-9C5E-3B9C-58EEC5E869EE}"/>
              </a:ext>
            </a:extLst>
          </p:cNvPr>
          <p:cNvPicPr>
            <a:picLocks noChangeAspect="1"/>
          </p:cNvPicPr>
          <p:nvPr/>
        </p:nvPicPr>
        <p:blipFill>
          <a:blip r:embed="rId5"/>
          <a:srcRect r="-4" b="6658"/>
          <a:stretch/>
        </p:blipFill>
        <p:spPr>
          <a:xfrm>
            <a:off x="5432992" y="2348779"/>
            <a:ext cx="4818974" cy="3373468"/>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57" name="Rectangle 56">
            <a:extLst>
              <a:ext uri="{FF2B5EF4-FFF2-40B4-BE49-F238E27FC236}">
                <a16:creationId xmlns:a16="http://schemas.microsoft.com/office/drawing/2014/main" id="{89C35FB2-5194-4BE0-92D0-464E2B711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6871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0BE3D13-5BE5-4B05-AFCF-2A2E059D2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6562092-3AA7-4EF0-9007-C44F879A1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1AC85C80-0175-4214-A13D-03C224658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70108" y="985292"/>
            <a:ext cx="1345319" cy="1345319"/>
          </a:xfrm>
          <a:prstGeom prst="ellipse">
            <a:avLst/>
          </a:prstGeom>
          <a:solidFill>
            <a:schemeClr val="accent1">
              <a:lumMod val="40000"/>
              <a:lumOff val="6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60B620B-3E81-4075-BC12-D4FB3E299C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2133" y="0"/>
            <a:ext cx="12189867" cy="6858000"/>
          </a:xfrm>
          <a:prstGeom prst="rect">
            <a:avLst/>
          </a:prstGeom>
        </p:spPr>
      </p:pic>
      <p:sp>
        <p:nvSpPr>
          <p:cNvPr id="2" name="Title 1">
            <a:extLst>
              <a:ext uri="{FF2B5EF4-FFF2-40B4-BE49-F238E27FC236}">
                <a16:creationId xmlns:a16="http://schemas.microsoft.com/office/drawing/2014/main" id="{92891B8A-E62E-F999-122A-89E6C0E4E7D6}"/>
              </a:ext>
            </a:extLst>
          </p:cNvPr>
          <p:cNvSpPr>
            <a:spLocks noGrp="1"/>
          </p:cNvSpPr>
          <p:nvPr>
            <p:ph type="title"/>
          </p:nvPr>
        </p:nvSpPr>
        <p:spPr>
          <a:xfrm>
            <a:off x="2442767" y="508929"/>
            <a:ext cx="8690000" cy="1308063"/>
          </a:xfrm>
        </p:spPr>
        <p:txBody>
          <a:bodyPr anchor="b">
            <a:noAutofit/>
          </a:bodyPr>
          <a:lstStyle/>
          <a:p>
            <a:pPr algn="l"/>
            <a:r>
              <a:rPr lang="en-US" sz="6600" dirty="0">
                <a:solidFill>
                  <a:srgbClr val="1F2D29"/>
                </a:solidFill>
              </a:rPr>
              <a:t>Ridge regression model</a:t>
            </a:r>
          </a:p>
        </p:txBody>
      </p:sp>
      <p:sp>
        <p:nvSpPr>
          <p:cNvPr id="5" name="TextBox 4">
            <a:extLst>
              <a:ext uri="{FF2B5EF4-FFF2-40B4-BE49-F238E27FC236}">
                <a16:creationId xmlns:a16="http://schemas.microsoft.com/office/drawing/2014/main" id="{B47A2746-C61A-F3D2-7B38-8D87EF83C25F}"/>
              </a:ext>
            </a:extLst>
          </p:cNvPr>
          <p:cNvSpPr txBox="1"/>
          <p:nvPr/>
        </p:nvSpPr>
        <p:spPr>
          <a:xfrm>
            <a:off x="3050628" y="3244334"/>
            <a:ext cx="6101254" cy="369332"/>
          </a:xfrm>
          <a:prstGeom prst="rect">
            <a:avLst/>
          </a:prstGeom>
          <a:noFill/>
        </p:spPr>
        <p:txBody>
          <a:bodyPr wrap="square">
            <a:spAutoFit/>
          </a:bodyPr>
          <a:lstStyle/>
          <a:p>
            <a:endParaRPr lang="en-US" dirty="0"/>
          </a:p>
        </p:txBody>
      </p:sp>
      <p:pic>
        <p:nvPicPr>
          <p:cNvPr id="7" name="Picture 6" descr="A black background with math symbols&#10;&#10;AI-generated content may be incorrect.">
            <a:extLst>
              <a:ext uri="{FF2B5EF4-FFF2-40B4-BE49-F238E27FC236}">
                <a16:creationId xmlns:a16="http://schemas.microsoft.com/office/drawing/2014/main" id="{4A12B153-B2B6-D053-B892-81B8F58EE9ED}"/>
              </a:ext>
            </a:extLst>
          </p:cNvPr>
          <p:cNvPicPr>
            <a:picLocks noChangeAspect="1"/>
          </p:cNvPicPr>
          <p:nvPr/>
        </p:nvPicPr>
        <p:blipFill>
          <a:blip r:embed="rId3"/>
          <a:stretch>
            <a:fillRect/>
          </a:stretch>
        </p:blipFill>
        <p:spPr>
          <a:xfrm>
            <a:off x="2442767" y="5370068"/>
            <a:ext cx="4445462" cy="1158062"/>
          </a:xfrm>
          <a:prstGeom prst="rect">
            <a:avLst/>
          </a:prstGeom>
        </p:spPr>
      </p:pic>
      <p:sp>
        <p:nvSpPr>
          <p:cNvPr id="11" name="Content Placeholder 10">
            <a:extLst>
              <a:ext uri="{FF2B5EF4-FFF2-40B4-BE49-F238E27FC236}">
                <a16:creationId xmlns:a16="http://schemas.microsoft.com/office/drawing/2014/main" id="{6D84C59B-AF57-1741-11C4-4A9E954131BA}"/>
              </a:ext>
            </a:extLst>
          </p:cNvPr>
          <p:cNvSpPr>
            <a:spLocks noGrp="1"/>
          </p:cNvSpPr>
          <p:nvPr>
            <p:ph idx="1"/>
          </p:nvPr>
        </p:nvSpPr>
        <p:spPr>
          <a:xfrm>
            <a:off x="2679817" y="2492953"/>
            <a:ext cx="7796540" cy="3997828"/>
          </a:xfrm>
        </p:spPr>
        <p:txBody>
          <a:bodyPr>
            <a:normAutofit/>
          </a:bodyPr>
          <a:lstStyle/>
          <a:p>
            <a:pPr>
              <a:buFont typeface="Courier New" panose="02070309020205020404" pitchFamily="49" charset="0"/>
              <a:buChar char="o"/>
            </a:pPr>
            <a:r>
              <a:rPr lang="en-US" dirty="0"/>
              <a:t>The ridge regression model was chosen to prevent overfitting, as I only had 24 observations in my dataset this was the proper choice</a:t>
            </a:r>
          </a:p>
          <a:p>
            <a:pPr>
              <a:buFont typeface="Courier New" panose="02070309020205020404" pitchFamily="49" charset="0"/>
              <a:buChar char="o"/>
            </a:pPr>
            <a:r>
              <a:rPr lang="en-US" dirty="0"/>
              <a:t>The r^2 score translates to explaining 74.24% of the variation of the physical activity levels among counties</a:t>
            </a:r>
          </a:p>
          <a:p>
            <a:pPr>
              <a:buFont typeface="Courier New" panose="02070309020205020404" pitchFamily="49" charset="0"/>
              <a:buChar char="o"/>
            </a:pPr>
            <a:r>
              <a:rPr lang="en-US" dirty="0"/>
              <a:t>Although negative coefficients are still useful to prove trends, from a public health perspective focusing on positive ones are crucial to identify what we should encourage and improve.</a:t>
            </a:r>
          </a:p>
          <a:p>
            <a:pPr>
              <a:buFont typeface="Courier New" panose="02070309020205020404" pitchFamily="49" charset="0"/>
              <a:buChar char="o"/>
            </a:pPr>
            <a:endParaRPr lang="en-US" b="0" dirty="0">
              <a:solidFill>
                <a:srgbClr val="BBBBBB"/>
              </a:solidFill>
              <a:effectLst/>
              <a:latin typeface="Menlo" panose="020B0609030804020204" pitchFamily="49" charset="0"/>
            </a:endParaRPr>
          </a:p>
          <a:p>
            <a:pPr>
              <a:buFont typeface="Courier New" panose="02070309020205020404" pitchFamily="49" charset="0"/>
              <a:buChar char="o"/>
            </a:pPr>
            <a:endParaRPr lang="en-US" b="0" dirty="0">
              <a:solidFill>
                <a:srgbClr val="BBBBBB"/>
              </a:solidFill>
              <a:effectLst/>
              <a:latin typeface="Menlo" panose="020B0609030804020204" pitchFamily="49" charset="0"/>
            </a:endParaRPr>
          </a:p>
          <a:p>
            <a:pPr>
              <a:buFont typeface="Courier New" panose="02070309020205020404" pitchFamily="49" charset="0"/>
              <a:buChar char="o"/>
            </a:pPr>
            <a:endParaRPr lang="en-US" b="0" dirty="0">
              <a:solidFill>
                <a:srgbClr val="BBBBBB"/>
              </a:solidFill>
              <a:effectLst/>
              <a:latin typeface="Menlo" panose="020B0609030804020204" pitchFamily="49" charset="0"/>
            </a:endParaRPr>
          </a:p>
          <a:p>
            <a:pPr>
              <a:buFont typeface="Courier New" panose="02070309020205020404" pitchFamily="49" charset="0"/>
              <a:buChar char="o"/>
            </a:pPr>
            <a:endParaRPr lang="en-US" dirty="0"/>
          </a:p>
        </p:txBody>
      </p:sp>
      <p:sp>
        <p:nvSpPr>
          <p:cNvPr id="13" name="TextBox 12">
            <a:extLst>
              <a:ext uri="{FF2B5EF4-FFF2-40B4-BE49-F238E27FC236}">
                <a16:creationId xmlns:a16="http://schemas.microsoft.com/office/drawing/2014/main" id="{69D16240-1F2F-A1DC-F58D-B2AA55524FF6}"/>
              </a:ext>
            </a:extLst>
          </p:cNvPr>
          <p:cNvSpPr txBox="1"/>
          <p:nvPr/>
        </p:nvSpPr>
        <p:spPr>
          <a:xfrm>
            <a:off x="4821387" y="4882351"/>
            <a:ext cx="5849328" cy="2031325"/>
          </a:xfrm>
          <a:prstGeom prst="rect">
            <a:avLst/>
          </a:prstGeom>
          <a:noFill/>
        </p:spPr>
        <p:txBody>
          <a:bodyPr wrap="square" rtlCol="0">
            <a:spAutoFit/>
          </a:bodyPr>
          <a:lstStyle/>
          <a:p>
            <a:pPr marL="0" indent="0" algn="r">
              <a:buNone/>
            </a:pPr>
            <a:r>
              <a:rPr lang="en-US" b="0" dirty="0">
                <a:solidFill>
                  <a:srgbClr val="BBBBBB"/>
                </a:solidFill>
                <a:effectLst/>
                <a:latin typeface="Menlo" panose="020B0609030804020204" pitchFamily="49" charset="0"/>
              </a:rPr>
              <a:t>Best alpha: 8.2864</a:t>
            </a:r>
          </a:p>
          <a:p>
            <a:pPr marL="0" indent="0" algn="r">
              <a:buNone/>
            </a:pPr>
            <a:r>
              <a:rPr lang="en-US" b="0" dirty="0">
                <a:solidFill>
                  <a:srgbClr val="BBBBBB"/>
                </a:solidFill>
                <a:effectLst/>
                <a:latin typeface="Menlo" panose="020B0609030804020204" pitchFamily="49" charset="0"/>
              </a:rPr>
              <a:t>R² score: 0.7424</a:t>
            </a:r>
            <a:endParaRPr lang="en-US" dirty="0"/>
          </a:p>
          <a:p>
            <a:pPr marL="0" indent="0" algn="r">
              <a:buNone/>
            </a:pPr>
            <a:r>
              <a:rPr lang="en-US" b="0" dirty="0">
                <a:solidFill>
                  <a:srgbClr val="BBBBBB"/>
                </a:solidFill>
                <a:effectLst/>
                <a:latin typeface="Menlo" panose="020B0609030804020204" pitchFamily="49" charset="0"/>
              </a:rPr>
              <a:t>MHI (Income): 0.5486</a:t>
            </a:r>
          </a:p>
          <a:p>
            <a:pPr marL="0" indent="0" algn="r">
              <a:buNone/>
            </a:pPr>
            <a:r>
              <a:rPr lang="en-US" b="0" dirty="0">
                <a:solidFill>
                  <a:srgbClr val="BBBBBB"/>
                </a:solidFill>
                <a:effectLst/>
                <a:latin typeface="Menlo" panose="020B0609030804020204" pitchFamily="49" charset="0"/>
              </a:rPr>
              <a:t>Public (Acres): 0.4456</a:t>
            </a:r>
          </a:p>
          <a:p>
            <a:pPr marL="0" indent="0" algn="r">
              <a:buNone/>
            </a:pPr>
            <a:r>
              <a:rPr lang="en-US" b="0" dirty="0">
                <a:solidFill>
                  <a:srgbClr val="BBBBBB"/>
                </a:solidFill>
                <a:effectLst/>
                <a:latin typeface="Menlo" panose="020B0609030804020204" pitchFamily="49" charset="0"/>
              </a:rPr>
              <a:t>Parks #: 0.1498</a:t>
            </a:r>
          </a:p>
          <a:p>
            <a:pPr marL="0" indent="0" algn="r">
              <a:buNone/>
            </a:pPr>
            <a:r>
              <a:rPr lang="en-US" b="0" dirty="0">
                <a:solidFill>
                  <a:srgbClr val="BBBBBB"/>
                </a:solidFill>
                <a:effectLst/>
                <a:latin typeface="Menlo" panose="020B0609030804020204" pitchFamily="49" charset="0"/>
              </a:rPr>
              <a:t>Number of Trails: 0.1858</a:t>
            </a:r>
          </a:p>
          <a:p>
            <a:endParaRPr lang="en-US" dirty="0"/>
          </a:p>
        </p:txBody>
      </p:sp>
    </p:spTree>
    <p:extLst>
      <p:ext uri="{BB962C8B-B14F-4D97-AF65-F5344CB8AC3E}">
        <p14:creationId xmlns:p14="http://schemas.microsoft.com/office/powerpoint/2010/main" val="148435464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17D79077-7AC1-C0EB-146E-6ED4AAFBD0CA}"/>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F7E2A83-E1CC-3FAE-E013-A2CDB1FCB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8BFD0844-6564-9A16-8016-8409E0C860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49" name="Picture 48">
            <a:extLst>
              <a:ext uri="{FF2B5EF4-FFF2-40B4-BE49-F238E27FC236}">
                <a16:creationId xmlns:a16="http://schemas.microsoft.com/office/drawing/2014/main" id="{DD3FA484-9451-B06E-8757-5601378443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51" name="Rectangle 50">
            <a:extLst>
              <a:ext uri="{FF2B5EF4-FFF2-40B4-BE49-F238E27FC236}">
                <a16:creationId xmlns:a16="http://schemas.microsoft.com/office/drawing/2014/main" id="{F210F615-B88A-B1A4-4714-7225C0D9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23CBC22-C23C-E606-D0FE-A7F34296D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9F605E6-4EC4-31CA-B2ED-F1EE9FCD0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1A959C-0954-C411-B288-38C2086FBD45}"/>
              </a:ext>
            </a:extLst>
          </p:cNvPr>
          <p:cNvSpPr>
            <a:spLocks noGrp="1"/>
          </p:cNvSpPr>
          <p:nvPr>
            <p:ph type="title"/>
          </p:nvPr>
        </p:nvSpPr>
        <p:spPr>
          <a:xfrm>
            <a:off x="1969803" y="808056"/>
            <a:ext cx="8608037" cy="1077229"/>
          </a:xfrm>
        </p:spPr>
        <p:txBody>
          <a:bodyPr>
            <a:normAutofit/>
          </a:bodyPr>
          <a:lstStyle/>
          <a:p>
            <a:pPr algn="l"/>
            <a:r>
              <a:rPr lang="en-US" dirty="0"/>
              <a:t>Determining Variables – Feature Importance + Engineering</a:t>
            </a:r>
          </a:p>
        </p:txBody>
      </p:sp>
      <p:sp>
        <p:nvSpPr>
          <p:cNvPr id="42" name="Content Placeholder 41">
            <a:extLst>
              <a:ext uri="{FF2B5EF4-FFF2-40B4-BE49-F238E27FC236}">
                <a16:creationId xmlns:a16="http://schemas.microsoft.com/office/drawing/2014/main" id="{58B89D9E-49D6-B641-F53C-FB15E1299BD6}"/>
              </a:ext>
            </a:extLst>
          </p:cNvPr>
          <p:cNvSpPr>
            <a:spLocks noGrp="1"/>
          </p:cNvSpPr>
          <p:nvPr>
            <p:ph idx="1"/>
          </p:nvPr>
        </p:nvSpPr>
        <p:spPr>
          <a:xfrm>
            <a:off x="1975805" y="2052116"/>
            <a:ext cx="8510597" cy="3997828"/>
          </a:xfrm>
        </p:spPr>
        <p:txBody>
          <a:bodyPr>
            <a:normAutofit/>
          </a:bodyPr>
          <a:lstStyle/>
          <a:p>
            <a:pPr>
              <a:buFont typeface="Courier New" panose="02070309020205020404" pitchFamily="49" charset="0"/>
              <a:buChar char="o"/>
            </a:pPr>
            <a:r>
              <a:rPr lang="en-US" sz="1600" dirty="0">
                <a:solidFill>
                  <a:srgbClr val="FFFCF9"/>
                </a:solidFill>
                <a:effectLst/>
                <a:latin typeface="Helvetica" pitchFamily="2" charset="0"/>
              </a:rPr>
              <a:t>The newly added trail dataset included a lot of information about them including length, user rating, and difficulty. </a:t>
            </a:r>
            <a:r>
              <a:rPr lang="en-US" sz="1600" dirty="0">
                <a:solidFill>
                  <a:srgbClr val="FFFCF9"/>
                </a:solidFill>
                <a:latin typeface="Helvetica" pitchFamily="2" charset="0"/>
              </a:rPr>
              <a:t>To make use of all of these insights, I created an “accessibility score” which multiplied the length by the rating, then divided that number by the difficulty.</a:t>
            </a:r>
            <a:endParaRPr lang="en-US" sz="1600" dirty="0">
              <a:solidFill>
                <a:srgbClr val="FFFCF9"/>
              </a:solidFill>
              <a:effectLst/>
              <a:latin typeface="Helvetica" pitchFamily="2" charset="0"/>
            </a:endParaRPr>
          </a:p>
          <a:p>
            <a:pPr>
              <a:buFont typeface="Courier New" panose="02070309020205020404" pitchFamily="49" charset="0"/>
              <a:buChar char="o"/>
            </a:pPr>
            <a:r>
              <a:rPr lang="en-US" sz="1600" dirty="0">
                <a:solidFill>
                  <a:srgbClr val="FFFCF9"/>
                </a:solidFill>
                <a:effectLst/>
                <a:latin typeface="Helvetica" pitchFamily="2" charset="0"/>
              </a:rPr>
              <a:t>The R2 score saw a massive increase with the added consideration of trails, and</a:t>
            </a:r>
            <a:r>
              <a:rPr lang="en-US" sz="1600" dirty="0">
                <a:solidFill>
                  <a:srgbClr val="FFFCF9"/>
                </a:solidFill>
                <a:latin typeface="Helvetica" pitchFamily="2" charset="0"/>
              </a:rPr>
              <a:t> </a:t>
            </a:r>
            <a:r>
              <a:rPr lang="en-US" sz="1600" dirty="0">
                <a:solidFill>
                  <a:srgbClr val="FFFCF9"/>
                </a:solidFill>
                <a:effectLst/>
                <a:latin typeface="Helvetica" pitchFamily="2" charset="0"/>
              </a:rPr>
              <a:t>accessibility</a:t>
            </a:r>
          </a:p>
          <a:p>
            <a:pPr>
              <a:buFont typeface="Courier New" panose="02070309020205020404" pitchFamily="49" charset="0"/>
              <a:buChar char="o"/>
            </a:pPr>
            <a:r>
              <a:rPr lang="en-US" sz="1600" dirty="0">
                <a:solidFill>
                  <a:srgbClr val="FFFCF9"/>
                </a:solidFill>
                <a:effectLst/>
                <a:latin typeface="Helvetica" pitchFamily="2" charset="0"/>
              </a:rPr>
              <a:t>Based on the coefficients given through the regression model, along with insights from the correlation matrix, I landed on determining Income, Number of Parks</a:t>
            </a:r>
            <a:r>
              <a:rPr lang="en-US" sz="1600" dirty="0">
                <a:solidFill>
                  <a:srgbClr val="FFFCF9"/>
                </a:solidFill>
                <a:latin typeface="Helvetica" pitchFamily="2" charset="0"/>
              </a:rPr>
              <a:t>, Number of Trails, and Accessibility score as factors with major impacts on activity level.</a:t>
            </a:r>
          </a:p>
          <a:p>
            <a:pPr>
              <a:buFont typeface="Courier New" panose="02070309020205020404" pitchFamily="49" charset="0"/>
              <a:buChar char="o"/>
            </a:pPr>
            <a:endParaRPr lang="en-US" sz="1600" dirty="0">
              <a:solidFill>
                <a:srgbClr val="FFFCF9"/>
              </a:solidFill>
              <a:effectLst/>
              <a:latin typeface="Helvetica" pitchFamily="2" charset="0"/>
            </a:endParaRPr>
          </a:p>
          <a:p>
            <a:pPr>
              <a:buFont typeface="Courier New" panose="02070309020205020404" pitchFamily="49" charset="0"/>
              <a:buChar char="o"/>
            </a:pPr>
            <a:endParaRPr lang="en-US" sz="1400" dirty="0">
              <a:solidFill>
                <a:srgbClr val="FFFCF9"/>
              </a:solidFill>
              <a:effectLst/>
              <a:latin typeface="Helvetica" pitchFamily="2" charset="0"/>
            </a:endParaRPr>
          </a:p>
          <a:p>
            <a:pPr>
              <a:buFont typeface="Courier New" panose="02070309020205020404" pitchFamily="49" charset="0"/>
              <a:buChar char="o"/>
            </a:pPr>
            <a:endParaRPr lang="en-US" sz="1600" dirty="0"/>
          </a:p>
        </p:txBody>
      </p:sp>
      <p:sp>
        <p:nvSpPr>
          <p:cNvPr id="57" name="Rectangle 56">
            <a:extLst>
              <a:ext uri="{FF2B5EF4-FFF2-40B4-BE49-F238E27FC236}">
                <a16:creationId xmlns:a16="http://schemas.microsoft.com/office/drawing/2014/main" id="{7238459A-BC48-19F4-FDBF-E79A2DE1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5291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5" name="Picture 34">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6" name="Rectangle 35">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72168E9E-94E9-4BE3-B88C-C8A468117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12107AC1-AA0D-4097-B03D-FD3C632AB8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TextBox 39">
            <a:extLst>
              <a:ext uri="{FF2B5EF4-FFF2-40B4-BE49-F238E27FC236}">
                <a16:creationId xmlns:a16="http://schemas.microsoft.com/office/drawing/2014/main" id="{7C8D231A-EC46-4736-B00F-76D3070822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41" name="Rectangle 40">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9867"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8F268C-9806-4AFE-4035-D36A48615CEB}"/>
              </a:ext>
            </a:extLst>
          </p:cNvPr>
          <p:cNvSpPr>
            <a:spLocks noGrp="1"/>
          </p:cNvSpPr>
          <p:nvPr>
            <p:ph type="title"/>
          </p:nvPr>
        </p:nvSpPr>
        <p:spPr>
          <a:xfrm>
            <a:off x="3918465" y="424963"/>
            <a:ext cx="7513366" cy="4056638"/>
          </a:xfrm>
        </p:spPr>
        <p:txBody>
          <a:bodyPr vert="horz" lIns="91440" tIns="45720" rIns="91440" bIns="45720" rtlCol="0" anchor="t">
            <a:normAutofit/>
          </a:bodyPr>
          <a:lstStyle/>
          <a:p>
            <a:r>
              <a:rPr lang="en-US" sz="6600" dirty="0">
                <a:latin typeface="Corbel" panose="020B0503020204020204" pitchFamily="34" charset="0"/>
              </a:rPr>
              <a:t>Data Visualization - Maps</a:t>
            </a:r>
          </a:p>
        </p:txBody>
      </p:sp>
      <p:sp>
        <p:nvSpPr>
          <p:cNvPr id="42" name="Rectangle 41">
            <a:extLst>
              <a:ext uri="{FF2B5EF4-FFF2-40B4-BE49-F238E27FC236}">
                <a16:creationId xmlns:a16="http://schemas.microsoft.com/office/drawing/2014/main" id="{5DA7D8ED-4DB6-46C0-AE81-24DA0AAF9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6204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E5C12349-62E6-4BD7-9794-8785CD02D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3" y="0"/>
            <a:ext cx="3690120"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 name="Right Triangle 43">
            <a:extLst>
              <a:ext uri="{FF2B5EF4-FFF2-40B4-BE49-F238E27FC236}">
                <a16:creationId xmlns:a16="http://schemas.microsoft.com/office/drawing/2014/main" id="{CDD5A4AA-8515-49AE-8C6C-9CF6E14C9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431831" y="1949051"/>
            <a:ext cx="239869" cy="239869"/>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7755DFF-36B8-FCFB-46D7-C59DE609E5A7}"/>
              </a:ext>
            </a:extLst>
          </p:cNvPr>
          <p:cNvPicPr>
            <a:picLocks noChangeAspect="1"/>
          </p:cNvPicPr>
          <p:nvPr/>
        </p:nvPicPr>
        <p:blipFill>
          <a:blip r:embed="rId5"/>
          <a:stretch>
            <a:fillRect/>
          </a:stretch>
        </p:blipFill>
        <p:spPr>
          <a:xfrm>
            <a:off x="1601950" y="119888"/>
            <a:ext cx="2095500" cy="1231900"/>
          </a:xfrm>
          <a:prstGeom prst="rect">
            <a:avLst/>
          </a:prstGeom>
        </p:spPr>
      </p:pic>
      <p:pic>
        <p:nvPicPr>
          <p:cNvPr id="7" name="Picture 6">
            <a:extLst>
              <a:ext uri="{FF2B5EF4-FFF2-40B4-BE49-F238E27FC236}">
                <a16:creationId xmlns:a16="http://schemas.microsoft.com/office/drawing/2014/main" id="{88E13C44-692D-4B2C-D18A-36D959BB0706}"/>
              </a:ext>
            </a:extLst>
          </p:cNvPr>
          <p:cNvPicPr>
            <a:picLocks noChangeAspect="1"/>
          </p:cNvPicPr>
          <p:nvPr/>
        </p:nvPicPr>
        <p:blipFill>
          <a:blip r:embed="rId6"/>
          <a:stretch>
            <a:fillRect/>
          </a:stretch>
        </p:blipFill>
        <p:spPr>
          <a:xfrm>
            <a:off x="1582900" y="1889074"/>
            <a:ext cx="2133600" cy="1206500"/>
          </a:xfrm>
          <a:prstGeom prst="rect">
            <a:avLst/>
          </a:prstGeom>
        </p:spPr>
      </p:pic>
      <p:pic>
        <p:nvPicPr>
          <p:cNvPr id="9" name="Picture 8">
            <a:extLst>
              <a:ext uri="{FF2B5EF4-FFF2-40B4-BE49-F238E27FC236}">
                <a16:creationId xmlns:a16="http://schemas.microsoft.com/office/drawing/2014/main" id="{FC36DAEF-C1A3-91FA-95B2-F0C6591CE08F}"/>
              </a:ext>
            </a:extLst>
          </p:cNvPr>
          <p:cNvPicPr>
            <a:picLocks noChangeAspect="1"/>
          </p:cNvPicPr>
          <p:nvPr/>
        </p:nvPicPr>
        <p:blipFill>
          <a:blip r:embed="rId7"/>
          <a:stretch>
            <a:fillRect/>
          </a:stretch>
        </p:blipFill>
        <p:spPr>
          <a:xfrm>
            <a:off x="1513362" y="3632860"/>
            <a:ext cx="2235200" cy="1346200"/>
          </a:xfrm>
          <a:prstGeom prst="rect">
            <a:avLst/>
          </a:prstGeom>
        </p:spPr>
      </p:pic>
      <p:pic>
        <p:nvPicPr>
          <p:cNvPr id="11" name="Picture 10">
            <a:extLst>
              <a:ext uri="{FF2B5EF4-FFF2-40B4-BE49-F238E27FC236}">
                <a16:creationId xmlns:a16="http://schemas.microsoft.com/office/drawing/2014/main" id="{6F9DC908-85E7-AD94-F060-2EC26301C6E8}"/>
              </a:ext>
            </a:extLst>
          </p:cNvPr>
          <p:cNvPicPr>
            <a:picLocks noChangeAspect="1"/>
          </p:cNvPicPr>
          <p:nvPr/>
        </p:nvPicPr>
        <p:blipFill>
          <a:blip r:embed="rId8"/>
          <a:stretch>
            <a:fillRect/>
          </a:stretch>
        </p:blipFill>
        <p:spPr>
          <a:xfrm>
            <a:off x="1534174" y="5516346"/>
            <a:ext cx="2231051" cy="1221766"/>
          </a:xfrm>
          <a:prstGeom prst="rect">
            <a:avLst/>
          </a:prstGeom>
        </p:spPr>
      </p:pic>
      <p:pic>
        <p:nvPicPr>
          <p:cNvPr id="13" name="Picture 12">
            <a:extLst>
              <a:ext uri="{FF2B5EF4-FFF2-40B4-BE49-F238E27FC236}">
                <a16:creationId xmlns:a16="http://schemas.microsoft.com/office/drawing/2014/main" id="{57B16313-C644-B1D4-B2A9-7FB2FCFD9CF2}"/>
              </a:ext>
            </a:extLst>
          </p:cNvPr>
          <p:cNvPicPr>
            <a:picLocks noChangeAspect="1"/>
          </p:cNvPicPr>
          <p:nvPr/>
        </p:nvPicPr>
        <p:blipFill>
          <a:blip r:embed="rId9"/>
          <a:stretch>
            <a:fillRect/>
          </a:stretch>
        </p:blipFill>
        <p:spPr>
          <a:xfrm>
            <a:off x="5157764" y="4114801"/>
            <a:ext cx="3251200" cy="1828800"/>
          </a:xfrm>
          <a:prstGeom prst="rect">
            <a:avLst/>
          </a:prstGeom>
        </p:spPr>
      </p:pic>
      <p:sp>
        <p:nvSpPr>
          <p:cNvPr id="15" name="TextBox 14">
            <a:extLst>
              <a:ext uri="{FF2B5EF4-FFF2-40B4-BE49-F238E27FC236}">
                <a16:creationId xmlns:a16="http://schemas.microsoft.com/office/drawing/2014/main" id="{163DBF13-F22A-3386-4126-FA18990FE6EB}"/>
              </a:ext>
            </a:extLst>
          </p:cNvPr>
          <p:cNvSpPr txBox="1"/>
          <p:nvPr/>
        </p:nvSpPr>
        <p:spPr>
          <a:xfrm>
            <a:off x="4974707" y="2301766"/>
            <a:ext cx="6880962" cy="646331"/>
          </a:xfrm>
          <a:prstGeom prst="rect">
            <a:avLst/>
          </a:prstGeom>
          <a:noFill/>
        </p:spPr>
        <p:txBody>
          <a:bodyPr wrap="square" rtlCol="0">
            <a:spAutoFit/>
          </a:bodyPr>
          <a:lstStyle/>
          <a:p>
            <a:pPr marL="285750" indent="-285750">
              <a:buFont typeface="Courier New" panose="02070309020205020404" pitchFamily="49" charset="0"/>
              <a:buChar char="o"/>
            </a:pPr>
            <a:r>
              <a:rPr lang="en-US" dirty="0"/>
              <a:t>Visualizations of the chosen four focus variables – Map of counties and physical activity level provided for comparison</a:t>
            </a:r>
          </a:p>
        </p:txBody>
      </p:sp>
    </p:spTree>
    <p:extLst>
      <p:ext uri="{BB962C8B-B14F-4D97-AF65-F5344CB8AC3E}">
        <p14:creationId xmlns:p14="http://schemas.microsoft.com/office/powerpoint/2010/main" val="3937535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AD9E97B-AC2F-66F9-CC52-7848AF5A0B10}"/>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8095F8FE-4A7F-5CE3-C9CB-8F4E4F0C58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5" name="Picture 34">
            <a:extLst>
              <a:ext uri="{FF2B5EF4-FFF2-40B4-BE49-F238E27FC236}">
                <a16:creationId xmlns:a16="http://schemas.microsoft.com/office/drawing/2014/main" id="{C7AEAE6E-E675-841B-576D-201FB21701A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6" name="Rectangle 35">
            <a:extLst>
              <a:ext uri="{FF2B5EF4-FFF2-40B4-BE49-F238E27FC236}">
                <a16:creationId xmlns:a16="http://schemas.microsoft.com/office/drawing/2014/main" id="{5E527DC4-835D-391E-82F5-50B9C15FE3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2AB2450F-7928-53B0-6569-CB956132B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DA48F17C-1DC0-30A1-84C3-BE774B1D6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867D3349-25CB-AFAF-B835-A12F70C2A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TextBox 39">
            <a:extLst>
              <a:ext uri="{FF2B5EF4-FFF2-40B4-BE49-F238E27FC236}">
                <a16:creationId xmlns:a16="http://schemas.microsoft.com/office/drawing/2014/main" id="{3A264A0A-9276-0C68-C76D-3BA523C450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41" name="Rectangle 40">
            <a:extLst>
              <a:ext uri="{FF2B5EF4-FFF2-40B4-BE49-F238E27FC236}">
                <a16:creationId xmlns:a16="http://schemas.microsoft.com/office/drawing/2014/main" id="{E89E5A3F-7A6A-8C55-F997-143CA383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9867"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06D621-4F86-2748-E9F7-250DED775AC6}"/>
              </a:ext>
            </a:extLst>
          </p:cNvPr>
          <p:cNvSpPr>
            <a:spLocks noGrp="1"/>
          </p:cNvSpPr>
          <p:nvPr>
            <p:ph type="title"/>
          </p:nvPr>
        </p:nvSpPr>
        <p:spPr>
          <a:xfrm>
            <a:off x="3918465" y="361901"/>
            <a:ext cx="7513366" cy="4056638"/>
          </a:xfrm>
        </p:spPr>
        <p:txBody>
          <a:bodyPr vert="horz" lIns="91440" tIns="45720" rIns="91440" bIns="45720" rtlCol="0" anchor="t">
            <a:normAutofit/>
          </a:bodyPr>
          <a:lstStyle/>
          <a:p>
            <a:r>
              <a:rPr lang="en-US" sz="6600" dirty="0">
                <a:latin typeface="Corbel" panose="020B0503020204020204" pitchFamily="34" charset="0"/>
              </a:rPr>
              <a:t>Data Visualization-</a:t>
            </a:r>
            <a:br>
              <a:rPr lang="en-US" sz="6600" dirty="0">
                <a:latin typeface="Corbel" panose="020B0503020204020204" pitchFamily="34" charset="0"/>
              </a:rPr>
            </a:br>
            <a:r>
              <a:rPr lang="en-US" sz="6600" dirty="0">
                <a:latin typeface="Corbel" panose="020B0503020204020204" pitchFamily="34" charset="0"/>
              </a:rPr>
              <a:t>Regression</a:t>
            </a:r>
          </a:p>
        </p:txBody>
      </p:sp>
      <p:sp>
        <p:nvSpPr>
          <p:cNvPr id="42" name="Rectangle 41">
            <a:extLst>
              <a:ext uri="{FF2B5EF4-FFF2-40B4-BE49-F238E27FC236}">
                <a16:creationId xmlns:a16="http://schemas.microsoft.com/office/drawing/2014/main" id="{6AE1D8C7-3C01-1DF9-00E1-61BD3BA79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6204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94DD3CED-1548-7D87-A89F-4FF9E3089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3" y="0"/>
            <a:ext cx="3690120"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 name="Right Triangle 43">
            <a:extLst>
              <a:ext uri="{FF2B5EF4-FFF2-40B4-BE49-F238E27FC236}">
                <a16:creationId xmlns:a16="http://schemas.microsoft.com/office/drawing/2014/main" id="{CE5F54D0-8B72-BD74-F44A-9108B0B04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431831" y="1949051"/>
            <a:ext cx="239869" cy="239869"/>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E495431-4993-97B6-C63B-8552AA0E3C1C}"/>
              </a:ext>
            </a:extLst>
          </p:cNvPr>
          <p:cNvPicPr>
            <a:picLocks noChangeAspect="1"/>
          </p:cNvPicPr>
          <p:nvPr/>
        </p:nvPicPr>
        <p:blipFill>
          <a:blip r:embed="rId4"/>
          <a:stretch>
            <a:fillRect/>
          </a:stretch>
        </p:blipFill>
        <p:spPr>
          <a:xfrm>
            <a:off x="1619070" y="243334"/>
            <a:ext cx="2286000" cy="1511300"/>
          </a:xfrm>
          <a:prstGeom prst="rect">
            <a:avLst/>
          </a:prstGeom>
        </p:spPr>
      </p:pic>
      <p:pic>
        <p:nvPicPr>
          <p:cNvPr id="5" name="Picture 4">
            <a:extLst>
              <a:ext uri="{FF2B5EF4-FFF2-40B4-BE49-F238E27FC236}">
                <a16:creationId xmlns:a16="http://schemas.microsoft.com/office/drawing/2014/main" id="{38B828A8-EC22-A813-DAEB-748639A78949}"/>
              </a:ext>
            </a:extLst>
          </p:cNvPr>
          <p:cNvPicPr>
            <a:picLocks noChangeAspect="1"/>
          </p:cNvPicPr>
          <p:nvPr/>
        </p:nvPicPr>
        <p:blipFill>
          <a:blip r:embed="rId5"/>
          <a:stretch>
            <a:fillRect/>
          </a:stretch>
        </p:blipFill>
        <p:spPr>
          <a:xfrm>
            <a:off x="1625420" y="1852176"/>
            <a:ext cx="2273300" cy="1498600"/>
          </a:xfrm>
          <a:prstGeom prst="rect">
            <a:avLst/>
          </a:prstGeom>
        </p:spPr>
      </p:pic>
      <p:pic>
        <p:nvPicPr>
          <p:cNvPr id="6" name="Picture 5">
            <a:extLst>
              <a:ext uri="{FF2B5EF4-FFF2-40B4-BE49-F238E27FC236}">
                <a16:creationId xmlns:a16="http://schemas.microsoft.com/office/drawing/2014/main" id="{289C1687-D0D2-6F2A-C960-FD210A2EA0D4}"/>
              </a:ext>
            </a:extLst>
          </p:cNvPr>
          <p:cNvPicPr>
            <a:picLocks noChangeAspect="1"/>
          </p:cNvPicPr>
          <p:nvPr/>
        </p:nvPicPr>
        <p:blipFill>
          <a:blip r:embed="rId6"/>
          <a:stretch>
            <a:fillRect/>
          </a:stretch>
        </p:blipFill>
        <p:spPr>
          <a:xfrm>
            <a:off x="1625420" y="3448318"/>
            <a:ext cx="2273300" cy="1498600"/>
          </a:xfrm>
          <a:prstGeom prst="rect">
            <a:avLst/>
          </a:prstGeom>
        </p:spPr>
      </p:pic>
      <p:pic>
        <p:nvPicPr>
          <p:cNvPr id="7" name="Picture 6">
            <a:extLst>
              <a:ext uri="{FF2B5EF4-FFF2-40B4-BE49-F238E27FC236}">
                <a16:creationId xmlns:a16="http://schemas.microsoft.com/office/drawing/2014/main" id="{2EB70028-6D9D-88BA-EA2B-0EBF7B721845}"/>
              </a:ext>
            </a:extLst>
          </p:cNvPr>
          <p:cNvPicPr>
            <a:picLocks noChangeAspect="1"/>
          </p:cNvPicPr>
          <p:nvPr/>
        </p:nvPicPr>
        <p:blipFill>
          <a:blip r:embed="rId7"/>
          <a:stretch>
            <a:fillRect/>
          </a:stretch>
        </p:blipFill>
        <p:spPr>
          <a:xfrm>
            <a:off x="1625420" y="5044459"/>
            <a:ext cx="2273300" cy="1511300"/>
          </a:xfrm>
          <a:prstGeom prst="rect">
            <a:avLst/>
          </a:prstGeom>
        </p:spPr>
      </p:pic>
      <p:sp>
        <p:nvSpPr>
          <p:cNvPr id="8" name="TextBox 7">
            <a:extLst>
              <a:ext uri="{FF2B5EF4-FFF2-40B4-BE49-F238E27FC236}">
                <a16:creationId xmlns:a16="http://schemas.microsoft.com/office/drawing/2014/main" id="{E3920EB6-3E21-049B-5371-2120F7A83922}"/>
              </a:ext>
            </a:extLst>
          </p:cNvPr>
          <p:cNvSpPr txBox="1"/>
          <p:nvPr/>
        </p:nvSpPr>
        <p:spPr>
          <a:xfrm>
            <a:off x="4985391" y="2390220"/>
            <a:ext cx="6308038" cy="646331"/>
          </a:xfrm>
          <a:prstGeom prst="rect">
            <a:avLst/>
          </a:prstGeom>
          <a:noFill/>
        </p:spPr>
        <p:txBody>
          <a:bodyPr wrap="square" rtlCol="0">
            <a:spAutoFit/>
          </a:bodyPr>
          <a:lstStyle/>
          <a:p>
            <a:pPr marL="285750" indent="-285750">
              <a:buFont typeface="Courier New" panose="02070309020205020404" pitchFamily="49" charset="0"/>
              <a:buChar char="o"/>
            </a:pPr>
            <a:r>
              <a:rPr lang="en-US" dirty="0"/>
              <a:t>Scatterplots – Visual representation of the linear relationship between the chosen 4 focus variables and physical activity </a:t>
            </a:r>
          </a:p>
        </p:txBody>
      </p:sp>
    </p:spTree>
    <p:extLst>
      <p:ext uri="{BB962C8B-B14F-4D97-AF65-F5344CB8AC3E}">
        <p14:creationId xmlns:p14="http://schemas.microsoft.com/office/powerpoint/2010/main" val="598856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4174" y="0"/>
            <a:ext cx="959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1D816B8-7F53-60AC-00DD-0BA2BB43B0FC}"/>
              </a:ext>
            </a:extLst>
          </p:cNvPr>
          <p:cNvSpPr>
            <a:spLocks noGrp="1"/>
          </p:cNvSpPr>
          <p:nvPr>
            <p:ph type="title"/>
          </p:nvPr>
        </p:nvSpPr>
        <p:spPr>
          <a:xfrm>
            <a:off x="1759309" y="326017"/>
            <a:ext cx="7710140" cy="1077229"/>
          </a:xfrm>
        </p:spPr>
        <p:txBody>
          <a:bodyPr anchor="b">
            <a:noAutofit/>
          </a:bodyPr>
          <a:lstStyle/>
          <a:p>
            <a:r>
              <a:rPr lang="en-US" sz="6000" dirty="0"/>
              <a:t>Implications + Findings</a:t>
            </a:r>
          </a:p>
        </p:txBody>
      </p:sp>
      <p:sp>
        <p:nvSpPr>
          <p:cNvPr id="33" name="Right Triangle 32">
            <a:extLst>
              <a:ext uri="{FF2B5EF4-FFF2-40B4-BE49-F238E27FC236}">
                <a16:creationId xmlns:a16="http://schemas.microsoft.com/office/drawing/2014/main" id="{16E2DAB7-48CB-400E-9ED2-FB1762BE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9589439" y="326017"/>
            <a:ext cx="239869" cy="239869"/>
          </a:xfrm>
          <a:prstGeom prst="r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91650A-997B-29BF-FC62-BA82B284A1A2}"/>
              </a:ext>
            </a:extLst>
          </p:cNvPr>
          <p:cNvSpPr>
            <a:spLocks noGrp="1"/>
          </p:cNvSpPr>
          <p:nvPr>
            <p:ph idx="1"/>
          </p:nvPr>
        </p:nvSpPr>
        <p:spPr>
          <a:xfrm>
            <a:off x="1759308" y="1591733"/>
            <a:ext cx="7710141" cy="4684887"/>
          </a:xfrm>
        </p:spPr>
        <p:txBody>
          <a:bodyPr anchor="ctr">
            <a:normAutofit fontScale="92500"/>
          </a:bodyPr>
          <a:lstStyle/>
          <a:p>
            <a:pPr>
              <a:buFont typeface="Courier New" panose="02070309020205020404" pitchFamily="49" charset="0"/>
              <a:buChar char="o"/>
            </a:pPr>
            <a:r>
              <a:rPr lang="en-US" dirty="0">
                <a:effectLst/>
                <a:latin typeface="Helvetica" pitchFamily="2" charset="0"/>
              </a:rPr>
              <a:t>The first step in solving a public health issue is identifying what is wrong, and what that problem is being caused by. </a:t>
            </a:r>
          </a:p>
          <a:p>
            <a:pPr>
              <a:buFont typeface="Courier New" panose="02070309020205020404" pitchFamily="49" charset="0"/>
              <a:buChar char="o"/>
            </a:pPr>
            <a:r>
              <a:rPr lang="en-US" dirty="0">
                <a:latin typeface="Helvetica" pitchFamily="2" charset="0"/>
              </a:rPr>
              <a:t>Based on some of our most influential variables being concerned with the amount of outdoor areas (number of parks and trails), it creates drive for city planning to prioritize walkable areas </a:t>
            </a:r>
          </a:p>
          <a:p>
            <a:pPr>
              <a:buFont typeface="Courier New" panose="02070309020205020404" pitchFamily="49" charset="0"/>
              <a:buChar char="o"/>
            </a:pPr>
            <a:r>
              <a:rPr lang="en-US" dirty="0">
                <a:latin typeface="Helvetica" pitchFamily="2" charset="0"/>
              </a:rPr>
              <a:t>Policies surrounding land expansion + parks can take into consideration the economic barriers that cause the variation in these physical activity levels</a:t>
            </a:r>
          </a:p>
          <a:p>
            <a:pPr>
              <a:buFont typeface="Courier New" panose="02070309020205020404" pitchFamily="49" charset="0"/>
              <a:buChar char="o"/>
            </a:pPr>
            <a:r>
              <a:rPr lang="en-US" dirty="0">
                <a:latin typeface="Helvetica" pitchFamily="2" charset="0"/>
              </a:rPr>
              <a:t>The main goal here was to pinpoint places where we can start tackling lowering physical activity rates – and in the bigger picture this is linked to the epidemic of obesity.</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3171120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3" y="-1"/>
            <a:ext cx="12189867"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214283E-D7B4-49E9-932E-D7F2A2847F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2" name="Rectangle 11">
            <a:extLst>
              <a:ext uri="{FF2B5EF4-FFF2-40B4-BE49-F238E27FC236}">
                <a16:creationId xmlns:a16="http://schemas.microsoft.com/office/drawing/2014/main" id="{BB17FFD2-DBC7-4ABB-B2A0-7E18EC1B8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25DA2D5B-EC4E-4C78-8139-F36D2F2D1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5262" y="-2"/>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4AAACE2-9C9E-468F-8297-EF7B5E55F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421698"/>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71DE584-24FF-686B-4FE8-314BE1752903}"/>
              </a:ext>
            </a:extLst>
          </p:cNvPr>
          <p:cNvSpPr txBox="1"/>
          <p:nvPr/>
        </p:nvSpPr>
        <p:spPr>
          <a:xfrm>
            <a:off x="2701463" y="421698"/>
            <a:ext cx="9301655" cy="1107996"/>
          </a:xfrm>
          <a:prstGeom prst="rect">
            <a:avLst/>
          </a:prstGeom>
          <a:noFill/>
        </p:spPr>
        <p:txBody>
          <a:bodyPr wrap="square" rtlCol="0">
            <a:spAutoFit/>
          </a:bodyPr>
          <a:lstStyle/>
          <a:p>
            <a:r>
              <a:rPr lang="en-US" sz="6600" dirty="0">
                <a:latin typeface="Corbel" panose="020B0503020204020204" pitchFamily="34" charset="0"/>
              </a:rPr>
              <a:t>Future Expansions</a:t>
            </a:r>
          </a:p>
        </p:txBody>
      </p:sp>
      <p:sp>
        <p:nvSpPr>
          <p:cNvPr id="6" name="Content Placeholder 2">
            <a:extLst>
              <a:ext uri="{FF2B5EF4-FFF2-40B4-BE49-F238E27FC236}">
                <a16:creationId xmlns:a16="http://schemas.microsoft.com/office/drawing/2014/main" id="{39D5B4E2-7DDF-0B76-2A14-94FA8772BA16}"/>
              </a:ext>
            </a:extLst>
          </p:cNvPr>
          <p:cNvSpPr>
            <a:spLocks noGrp="1"/>
          </p:cNvSpPr>
          <p:nvPr>
            <p:ph type="title"/>
          </p:nvPr>
        </p:nvSpPr>
        <p:spPr>
          <a:xfrm>
            <a:off x="1508563" y="3046462"/>
            <a:ext cx="8825108" cy="1544986"/>
          </a:xfrm>
        </p:spPr>
        <p:txBody>
          <a:bodyPr anchor="ctr">
            <a:normAutofit fontScale="90000"/>
          </a:bodyPr>
          <a:lstStyle/>
          <a:p>
            <a:pPr marL="285750" indent="-285750" algn="l">
              <a:buFont typeface="Courier New" panose="02070309020205020404" pitchFamily="49" charset="0"/>
              <a:buChar char="o"/>
            </a:pPr>
            <a:r>
              <a:rPr lang="en-US" sz="2000" dirty="0">
                <a:effectLst/>
                <a:latin typeface="Helvetica" pitchFamily="2" charset="0"/>
              </a:rPr>
              <a:t>Having access to larger and more personal health datasets will help to analyze more specific trends. Working with a company like Strava, Garmin, or Apple Health where users record their outdoor activity would allow us to have more information to further explore the explanation of variability in physical activity levels. </a:t>
            </a:r>
            <a:br>
              <a:rPr lang="en-US" sz="1800" dirty="0">
                <a:effectLst/>
                <a:latin typeface="Helvetica" pitchFamily="2" charset="0"/>
              </a:rPr>
            </a:br>
            <a:br>
              <a:rPr lang="en-US" sz="1800" dirty="0">
                <a:effectLst/>
                <a:latin typeface="Helvetica" pitchFamily="2" charset="0"/>
              </a:rPr>
            </a:br>
            <a:br>
              <a:rPr lang="en-US" sz="1800" dirty="0">
                <a:effectLst/>
                <a:latin typeface="Helvetica" pitchFamily="2" charset="0"/>
              </a:rPr>
            </a:br>
            <a:br>
              <a:rPr lang="en-US" sz="1800" dirty="0">
                <a:effectLst/>
                <a:latin typeface="Helvetica" pitchFamily="2" charset="0"/>
              </a:rPr>
            </a:br>
            <a:br>
              <a:rPr lang="en-US" sz="1800" dirty="0">
                <a:effectLst/>
                <a:latin typeface="Helvetica" pitchFamily="2" charset="0"/>
              </a:rPr>
            </a:br>
            <a:br>
              <a:rPr lang="en-US" sz="1600" dirty="0">
                <a:effectLst/>
                <a:latin typeface="Helvetica" pitchFamily="2" charset="0"/>
              </a:rPr>
            </a:br>
            <a:br>
              <a:rPr lang="en-US" sz="1050" dirty="0">
                <a:latin typeface="Helvetica" pitchFamily="2" charset="0"/>
              </a:rPr>
            </a:br>
            <a:br>
              <a:rPr lang="en-US" sz="1050" dirty="0">
                <a:latin typeface="Helvetica" pitchFamily="2" charset="0"/>
              </a:rPr>
            </a:br>
            <a:br>
              <a:rPr lang="en-US" sz="1050" dirty="0">
                <a:latin typeface="Helvetica" pitchFamily="2" charset="0"/>
              </a:rPr>
            </a:br>
            <a:br>
              <a:rPr lang="en-US" sz="1800" dirty="0">
                <a:effectLst/>
                <a:latin typeface="Helvetica" pitchFamily="2" charset="0"/>
              </a:rPr>
            </a:br>
            <a:br>
              <a:rPr lang="en-US" sz="1800" dirty="0">
                <a:effectLst/>
                <a:latin typeface="Helvetica" pitchFamily="2" charset="0"/>
              </a:rPr>
            </a:br>
            <a:br>
              <a:rPr lang="en-US" dirty="0">
                <a:effectLst/>
                <a:latin typeface="Helvetica" pitchFamily="2" charset="0"/>
              </a:rPr>
            </a:br>
            <a:endParaRPr lang="en-US" dirty="0"/>
          </a:p>
        </p:txBody>
      </p:sp>
      <p:pic>
        <p:nvPicPr>
          <p:cNvPr id="7" name="Picture 6">
            <a:extLst>
              <a:ext uri="{FF2B5EF4-FFF2-40B4-BE49-F238E27FC236}">
                <a16:creationId xmlns:a16="http://schemas.microsoft.com/office/drawing/2014/main" id="{A58935A2-28FD-5489-ACA9-EC0C5ED4F5C7}"/>
              </a:ext>
            </a:extLst>
          </p:cNvPr>
          <p:cNvPicPr>
            <a:picLocks noChangeAspect="1"/>
          </p:cNvPicPr>
          <p:nvPr/>
        </p:nvPicPr>
        <p:blipFill>
          <a:blip r:embed="rId3"/>
          <a:stretch>
            <a:fillRect/>
          </a:stretch>
        </p:blipFill>
        <p:spPr>
          <a:xfrm>
            <a:off x="10333671" y="156610"/>
            <a:ext cx="1246400" cy="2464472"/>
          </a:xfrm>
          <a:prstGeom prst="rect">
            <a:avLst/>
          </a:prstGeom>
        </p:spPr>
      </p:pic>
      <p:sp>
        <p:nvSpPr>
          <p:cNvPr id="9" name="TextBox 8">
            <a:extLst>
              <a:ext uri="{FF2B5EF4-FFF2-40B4-BE49-F238E27FC236}">
                <a16:creationId xmlns:a16="http://schemas.microsoft.com/office/drawing/2014/main" id="{32310167-003E-9EAD-D543-DF23FF81AE9F}"/>
              </a:ext>
            </a:extLst>
          </p:cNvPr>
          <p:cNvSpPr txBox="1"/>
          <p:nvPr/>
        </p:nvSpPr>
        <p:spPr>
          <a:xfrm>
            <a:off x="1474695" y="4962783"/>
            <a:ext cx="8321647" cy="1200329"/>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a:effectLst/>
                <a:latin typeface="Helvetica" pitchFamily="2" charset="0"/>
              </a:rPr>
              <a:t>Public health is centered around ensuring the public has access to information that can </a:t>
            </a:r>
            <a:r>
              <a:rPr lang="en-US" sz="1800" dirty="0">
                <a:latin typeface="Helvetica" pitchFamily="2" charset="0"/>
              </a:rPr>
              <a:t>impact their health in a variety of ways, including nutrition or as we have discussed here – fitness.</a:t>
            </a:r>
          </a:p>
          <a:p>
            <a:pPr marL="285750" indent="-285750">
              <a:buFont typeface="Courier New" panose="02070309020205020404" pitchFamily="49" charset="0"/>
              <a:buChar char="o"/>
            </a:pPr>
            <a:endParaRPr lang="en-US" dirty="0"/>
          </a:p>
        </p:txBody>
      </p:sp>
      <p:sp>
        <p:nvSpPr>
          <p:cNvPr id="11" name="TextBox 10">
            <a:extLst>
              <a:ext uri="{FF2B5EF4-FFF2-40B4-BE49-F238E27FC236}">
                <a16:creationId xmlns:a16="http://schemas.microsoft.com/office/drawing/2014/main" id="{9D2E0881-BDFF-6464-29C1-DBD7DC37E53A}"/>
              </a:ext>
            </a:extLst>
          </p:cNvPr>
          <p:cNvSpPr txBox="1"/>
          <p:nvPr/>
        </p:nvSpPr>
        <p:spPr>
          <a:xfrm>
            <a:off x="1474695" y="3374619"/>
            <a:ext cx="7515781" cy="119419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a:effectLst/>
                <a:latin typeface="Helvetica" pitchFamily="2" charset="0"/>
              </a:rPr>
              <a:t>Creating an app that allows users to access information about their nearest parks and trials that is not behind a paywall is especially important, considering we found that income is one of the biggest factors that cause variability in physical activity levels. </a:t>
            </a:r>
            <a:endParaRPr lang="en-US" dirty="0"/>
          </a:p>
        </p:txBody>
      </p:sp>
    </p:spTree>
    <p:extLst>
      <p:ext uri="{BB962C8B-B14F-4D97-AF65-F5344CB8AC3E}">
        <p14:creationId xmlns:p14="http://schemas.microsoft.com/office/powerpoint/2010/main" val="752756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17D0E-17FF-D7A8-34B4-E1118BCF6F74}"/>
              </a:ext>
            </a:extLst>
          </p:cNvPr>
          <p:cNvSpPr>
            <a:spLocks noGrp="1"/>
          </p:cNvSpPr>
          <p:nvPr>
            <p:ph type="title"/>
          </p:nvPr>
        </p:nvSpPr>
        <p:spPr>
          <a:xfrm>
            <a:off x="1882985" y="2351771"/>
            <a:ext cx="8426029" cy="1077229"/>
          </a:xfrm>
        </p:spPr>
        <p:txBody>
          <a:bodyPr>
            <a:noAutofit/>
          </a:bodyPr>
          <a:lstStyle/>
          <a:p>
            <a:pPr algn="ctr"/>
            <a:r>
              <a:rPr lang="en-US" sz="6600" dirty="0"/>
              <a:t>Questions?  Suggestions?</a:t>
            </a:r>
          </a:p>
        </p:txBody>
      </p:sp>
    </p:spTree>
    <p:extLst>
      <p:ext uri="{BB962C8B-B14F-4D97-AF65-F5344CB8AC3E}">
        <p14:creationId xmlns:p14="http://schemas.microsoft.com/office/powerpoint/2010/main" val="1950446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451</TotalTime>
  <Words>727</Words>
  <Application>Microsoft Macintosh PowerPoint</Application>
  <PresentationFormat>Widescreen</PresentationFormat>
  <Paragraphs>51</Paragraphs>
  <Slides>12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Corbel</vt:lpstr>
      <vt:lpstr>Courier New</vt:lpstr>
      <vt:lpstr>Helvetica</vt:lpstr>
      <vt:lpstr>Menlo</vt:lpstr>
      <vt:lpstr>MS Shell Dlg 2</vt:lpstr>
      <vt:lpstr>Wingdings</vt:lpstr>
      <vt:lpstr>Wingdings 3</vt:lpstr>
      <vt:lpstr>Madison</vt:lpstr>
      <vt:lpstr>What factors are most associated with physical activity levels across citizens in Maryland Counties?</vt:lpstr>
      <vt:lpstr>Poster Presentation Visual</vt:lpstr>
      <vt:lpstr>Why is this worth researching? </vt:lpstr>
      <vt:lpstr>Data Collection Process</vt:lpstr>
      <vt:lpstr>Determining Variables – Feature Importance + Engineering</vt:lpstr>
      <vt:lpstr>Ridge regression model</vt:lpstr>
      <vt:lpstr>Determining Variables – Feature Importance + Engineering</vt:lpstr>
      <vt:lpstr>Data Visualization - Maps</vt:lpstr>
      <vt:lpstr>Data Visualization- Regression</vt:lpstr>
      <vt:lpstr>Implications + Findings</vt:lpstr>
      <vt:lpstr>Having access to larger and more personal health datasets will help to analyze more specific trends. Working with a company like Strava, Garmin, or Apple Health where users record their outdoor activity would allow us to have more information to further explore the explanation of variability in physical activity levels.             </vt:lpstr>
      <vt:lpstr>Questions?  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Iriarte, Karly Jaelynn</dc:creator>
  <cp:lastModifiedBy>Iriarte, Karly Jaelynn</cp:lastModifiedBy>
  <cp:revision>16</cp:revision>
  <dcterms:created xsi:type="dcterms:W3CDTF">2025-04-14T19:33:50Z</dcterms:created>
  <dcterms:modified xsi:type="dcterms:W3CDTF">2025-04-21T19:18:32Z</dcterms:modified>
</cp:coreProperties>
</file>